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9" r:id="rId4"/>
    <p:sldId id="261" r:id="rId5"/>
    <p:sldId id="269" r:id="rId6"/>
    <p:sldId id="270" r:id="rId7"/>
    <p:sldId id="271" r:id="rId8"/>
    <p:sldId id="272" r:id="rId9"/>
    <p:sldId id="262" r:id="rId10"/>
    <p:sldId id="258" r:id="rId11"/>
    <p:sldId id="273" r:id="rId12"/>
    <p:sldId id="274" r:id="rId13"/>
    <p:sldId id="275" r:id="rId14"/>
    <p:sldId id="265" r:id="rId15"/>
    <p:sldId id="267" r:id="rId16"/>
    <p:sldId id="266" r:id="rId17"/>
    <p:sldId id="278" r:id="rId18"/>
    <p:sldId id="263" r:id="rId19"/>
    <p:sldId id="260" r:id="rId20"/>
    <p:sldId id="264" r:id="rId21"/>
    <p:sldId id="268" r:id="rId22"/>
    <p:sldId id="277" r:id="rId23"/>
    <p:sldId id="276" r:id="rId24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47" d="100"/>
          <a:sy n="47" d="100"/>
        </p:scale>
        <p:origin x="1027" y="3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microsoft.com/office/2007/relationships/media" Target="../media/media1.mp4"/><Relationship Id="rId2" Type="http://schemas.openxmlformats.org/officeDocument/2006/relationships/video" Target="../media/media1.mp4"/><Relationship Id="rId3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4663440"/>
            <a:ext cx="12188952" cy="45720"/>
          </a:xfrm>
          <a:prstGeom prst="rect">
            <a:avLst/>
          </a:prstGeom>
          <a:solidFill>
            <a:srgbClr val="3F5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4709160"/>
            <a:ext cx="12188952" cy="21488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914400"/>
            <a:ext cx="10058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3F51B5"/>
                </a:solidFill>
              </a:rPr>
              <a:t>Portfolio Tracker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3774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9E9E9E"/>
                </a:solidFill>
              </a:rPr>
              <a:t>되돌아보는 투자자가 앞으로 나아간다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10896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3F51B5"/>
                </a:solidFill>
              </a:rPr>
              <a:t>최종 발표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9E9E9E"/>
                </a:solidFill>
              </a:rPr>
              <a:t>Flutter + Firebase  ·  개인 자산 포트폴리오 관리 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48640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E9E9E"/>
                </a:solidFill>
              </a:rPr>
              <a:t>2026.06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3F51B5"/>
                </a:solidFill>
              </a:rPr>
              <a:t>1.  문제 정의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E9E9E"/>
                </a:solidFill>
              </a:rPr>
              <a:t>누구의 어떤 문제를 푸는가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68680"/>
            <a:ext cx="12188952" cy="45720"/>
          </a:xfrm>
          <a:prstGeom prst="rect">
            <a:avLst/>
          </a:prstGeom>
          <a:solidFill>
            <a:srgbClr val="3F5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E9E9E"/>
                </a:solidFill>
              </a:rPr>
              <a:t>2 / 23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51560"/>
            <a:ext cx="11247120" cy="1143000"/>
          </a:xfrm>
          <a:prstGeom prst="rect">
            <a:avLst/>
          </a:prstGeom>
          <a:noFill/>
          <a:ln w="1016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1051560"/>
            <a:ext cx="54864" cy="1143000"/>
          </a:xfrm>
          <a:prstGeom prst="rect">
            <a:avLst/>
          </a:prstGeom>
          <a:solidFill>
            <a:srgbClr val="3F5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8368" y="1188719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F51B5"/>
                </a:solidFill>
              </a:rPr>
              <a:t>데이터 분산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600200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12121"/>
                </a:solidFill>
              </a:rPr>
              <a:t>여러 계좌·앱에 흩어진 투자 기록 — 전체 현황 파악 불가능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423160"/>
            <a:ext cx="11247120" cy="1143000"/>
          </a:xfrm>
          <a:prstGeom prst="rect">
            <a:avLst/>
          </a:prstGeom>
          <a:noFill/>
          <a:ln w="1016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7200" y="2423160"/>
            <a:ext cx="54864" cy="1143000"/>
          </a:xfrm>
          <a:prstGeom prst="rect">
            <a:avLst/>
          </a:prstGeom>
          <a:solidFill>
            <a:srgbClr val="3F5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8368" y="2560320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F51B5"/>
                </a:solidFill>
              </a:rPr>
              <a:t>복기 불가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2971800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12121"/>
                </a:solidFill>
              </a:rPr>
              <a:t>체계적인 기록 수단 없음 — 매수 근거와 실제 결과를 나란히 볼 수 없음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794760"/>
            <a:ext cx="11247120" cy="1143000"/>
          </a:xfrm>
          <a:prstGeom prst="rect">
            <a:avLst/>
          </a:prstGeom>
          <a:noFill/>
          <a:ln w="1016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57200" y="3794760"/>
            <a:ext cx="54864" cy="1143000"/>
          </a:xfrm>
          <a:prstGeom prst="rect">
            <a:avLst/>
          </a:prstGeom>
          <a:solidFill>
            <a:srgbClr val="3F5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8368" y="3931920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F51B5"/>
                </a:solidFill>
              </a:rPr>
              <a:t>실수 반복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4343400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12121"/>
                </a:solidFill>
              </a:rPr>
              <a:t>복기 부재 → 같은 판단 오류 반복 → 수익 기회 상실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5212080"/>
            <a:ext cx="11247120" cy="868680"/>
          </a:xfrm>
          <a:prstGeom prst="rect">
            <a:avLst/>
          </a:prstGeom>
          <a:solidFill>
            <a:srgbClr val="F5F5F5"/>
          </a:solidFill>
          <a:ln w="1016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57200" y="5212080"/>
            <a:ext cx="54864" cy="868680"/>
          </a:xfrm>
          <a:prstGeom prst="rect">
            <a:avLst/>
          </a:prstGeom>
          <a:solidFill>
            <a:srgbClr val="3F5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8368" y="539496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12121"/>
                </a:solidFill>
              </a:rPr>
              <a:t>한 줄 가치 제안  ·  "경험을 자산으로 바꾸는 개인 투자 포트폴리오 관리 앱"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3F51B5"/>
                </a:solidFill>
              </a:rPr>
              <a:t>2.  WBS  (Work Breakdown Structure)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E9E9E"/>
                </a:solidFill>
              </a:rPr>
              <a:t>전체 작업 분해 구조 — 주차별 일정 및 완료 현황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68680"/>
            <a:ext cx="12188952" cy="45720"/>
          </a:xfrm>
          <a:prstGeom prst="rect">
            <a:avLst/>
          </a:prstGeom>
          <a:solidFill>
            <a:srgbClr val="3F5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E9E9E"/>
                </a:solidFill>
              </a:rPr>
              <a:t>3 / 23</a:t>
            </a:r>
          </a:p>
        </p:txBody>
      </p:sp>
      <p:pic>
        <p:nvPicPr>
          <p:cNvPr id="7" name="Picture 6" descr="wb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4232" y="1051560"/>
            <a:ext cx="7149631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3F51B5"/>
                </a:solidFill>
              </a:rPr>
              <a:t>3.  기술 스택과 아키텍처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E9E9E"/>
                </a:solidFill>
              </a:rPr>
              <a:t>주요 기술 결정 — ADR 기반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68680"/>
            <a:ext cx="12188952" cy="45720"/>
          </a:xfrm>
          <a:prstGeom prst="rect">
            <a:avLst/>
          </a:prstGeom>
          <a:solidFill>
            <a:srgbClr val="3F5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E9E9E"/>
                </a:solidFill>
              </a:rPr>
              <a:t>4 / 23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51560"/>
            <a:ext cx="3291840" cy="530352"/>
          </a:xfrm>
          <a:prstGeom prst="rect">
            <a:avLst/>
          </a:prstGeom>
          <a:solidFill>
            <a:srgbClr val="3F5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21792" y="1115568"/>
            <a:ext cx="3108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영역</a:t>
            </a:r>
          </a:p>
        </p:txBody>
      </p:sp>
      <p:sp>
        <p:nvSpPr>
          <p:cNvPr id="9" name="Rectangle 8"/>
          <p:cNvSpPr/>
          <p:nvPr/>
        </p:nvSpPr>
        <p:spPr>
          <a:xfrm>
            <a:off x="3840480" y="1051560"/>
            <a:ext cx="4846320" cy="530352"/>
          </a:xfrm>
          <a:prstGeom prst="rect">
            <a:avLst/>
          </a:prstGeom>
          <a:solidFill>
            <a:srgbClr val="3F5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005072" y="1115568"/>
            <a:ext cx="46634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선택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778240" y="1051560"/>
            <a:ext cx="3017520" cy="530352"/>
          </a:xfrm>
          <a:prstGeom prst="rect">
            <a:avLst/>
          </a:prstGeom>
          <a:solidFill>
            <a:srgbClr val="3F5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942832" y="1115568"/>
            <a:ext cx="2834639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근거 (ADR)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1581912"/>
            <a:ext cx="3291840" cy="1188720"/>
          </a:xfrm>
          <a:prstGeom prst="rect">
            <a:avLst/>
          </a:prstGeom>
          <a:solidFill>
            <a:srgbClr val="F5F5F5"/>
          </a:solidFill>
          <a:ln w="1016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" y="1929384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12121"/>
                </a:solidFill>
              </a:rPr>
              <a:t>모바일 프레임워크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840480" y="1581912"/>
            <a:ext cx="4846320" cy="1188720"/>
          </a:xfrm>
          <a:prstGeom prst="rect">
            <a:avLst/>
          </a:prstGeom>
          <a:solidFill>
            <a:srgbClr val="F5F5F5"/>
          </a:solidFill>
          <a:ln w="1016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023360" y="1783080"/>
            <a:ext cx="4480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12121"/>
                </a:solidFill>
              </a:rPr>
              <a:t>Flutter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778240" y="1581912"/>
            <a:ext cx="3017520" cy="1188720"/>
          </a:xfrm>
          <a:prstGeom prst="rect">
            <a:avLst/>
          </a:prstGeom>
          <a:solidFill>
            <a:srgbClr val="3F51B5"/>
          </a:solidFill>
          <a:ln w="1016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961120" y="1929384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ADR-0001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971800"/>
            <a:ext cx="3291840" cy="1188720"/>
          </a:xfrm>
          <a:prstGeom prst="rect">
            <a:avLst/>
          </a:prstGeom>
          <a:solidFill>
            <a:srgbClr val="FFFFFF"/>
          </a:solidFill>
          <a:ln w="1016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0080" y="3319272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12121"/>
                </a:solidFill>
              </a:rPr>
              <a:t>아키텍처 패턴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840480" y="2971800"/>
            <a:ext cx="4846320" cy="1188720"/>
          </a:xfrm>
          <a:prstGeom prst="rect">
            <a:avLst/>
          </a:prstGeom>
          <a:solidFill>
            <a:srgbClr val="FFFFFF"/>
          </a:solidFill>
          <a:ln w="1016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023360" y="3172968"/>
            <a:ext cx="4480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12121"/>
                </a:solidFill>
              </a:rPr>
              <a:t>4레이어 구조
(화면·흐름·규칙·저장)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778240" y="2971800"/>
            <a:ext cx="3017520" cy="1188720"/>
          </a:xfrm>
          <a:prstGeom prst="rect">
            <a:avLst/>
          </a:prstGeom>
          <a:solidFill>
            <a:srgbClr val="3F51B5"/>
          </a:solidFill>
          <a:ln w="1016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961120" y="3319272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ADR-0002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4361688"/>
            <a:ext cx="3291840" cy="1188720"/>
          </a:xfrm>
          <a:prstGeom prst="rect">
            <a:avLst/>
          </a:prstGeom>
          <a:solidFill>
            <a:srgbClr val="F5F5F5"/>
          </a:solidFill>
          <a:ln w="1016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0080" y="4709159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12121"/>
                </a:solidFill>
              </a:rPr>
              <a:t>백엔드 서비스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840480" y="4361688"/>
            <a:ext cx="4846320" cy="1188720"/>
          </a:xfrm>
          <a:prstGeom prst="rect">
            <a:avLst/>
          </a:prstGeom>
          <a:solidFill>
            <a:srgbClr val="F5F5F5"/>
          </a:solidFill>
          <a:ln w="1016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023360" y="4562855"/>
            <a:ext cx="4480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12121"/>
                </a:solidFill>
              </a:rPr>
              <a:t>Firebase
(Auth + Firestore)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778240" y="4361688"/>
            <a:ext cx="3017520" cy="1188720"/>
          </a:xfrm>
          <a:prstGeom prst="rect">
            <a:avLst/>
          </a:prstGeom>
          <a:solidFill>
            <a:srgbClr val="3F51B5"/>
          </a:solidFill>
          <a:ln w="1016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961120" y="4709159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ADR-0003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03504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E9E9E"/>
                </a:solidFill>
              </a:rPr>
              <a:t>* ADR 세부 내용(선택지 비교)은 발표 마지막 슬라이드에 수록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3F51B5"/>
                </a:solidFill>
              </a:rPr>
              <a:t>4.  개발 방식 — AI 워크플로우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E9E9E"/>
                </a:solidFill>
              </a:rPr>
              <a:t>주성현  (1/2)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68680"/>
            <a:ext cx="12188952" cy="45720"/>
          </a:xfrm>
          <a:prstGeom prst="rect">
            <a:avLst/>
          </a:prstGeom>
          <a:solidFill>
            <a:srgbClr val="3F5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E9E9E"/>
                </a:solidFill>
              </a:rPr>
              <a:t>5 / 23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914400"/>
            <a:ext cx="11247120" cy="1691640"/>
          </a:xfrm>
          <a:prstGeom prst="rect">
            <a:avLst/>
          </a:prstGeom>
          <a:noFill/>
          <a:ln w="1016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914400"/>
            <a:ext cx="11247120" cy="40233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200" y="914400"/>
            <a:ext cx="1463040" cy="402336"/>
          </a:xfrm>
          <a:prstGeom prst="rect">
            <a:avLst/>
          </a:prstGeom>
          <a:solidFill>
            <a:srgbClr val="E6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914400"/>
            <a:ext cx="14630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AI 워크플로우
활용  +1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57400" y="978408"/>
            <a:ext cx="9509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F51B5"/>
                </a:solidFill>
              </a:rPr>
              <a:t>feature-debugger 에이전트 직접 제작 + /dg 실사용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1389888"/>
            <a:ext cx="10789920" cy="1161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12121"/>
                </a:solidFill>
              </a:rPr>
              <a:t>.claude/agents/feature-debugger.md  직접 제작
앱 기능 6개 영역(인증 · 계좌 · 포지션 · 차트 · 대시보드 · Firebase)을 /dg 명령어 하나로 반복 점검 수행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743200"/>
            <a:ext cx="11247120" cy="1691640"/>
          </a:xfrm>
          <a:prstGeom prst="rect">
            <a:avLst/>
          </a:prstGeom>
          <a:noFill/>
          <a:ln w="1016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57200" y="2743200"/>
            <a:ext cx="11247120" cy="40233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57200" y="2743200"/>
            <a:ext cx="1463040" cy="402336"/>
          </a:xfrm>
          <a:prstGeom prst="rect">
            <a:avLst/>
          </a:prstGeom>
          <a:solidFill>
            <a:srgbClr val="3F5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7200" y="2743200"/>
            <a:ext cx="14630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본인 기법
구성  +2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2807208"/>
            <a:ext cx="9509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F51B5"/>
                </a:solidFill>
              </a:rPr>
              <a:t>기법 1  —  단일 md 부트스트랩  (AUTHORING.Jooseonghyeon.v0.1.0.md)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3218688"/>
            <a:ext cx="10789920" cy="1161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12121"/>
                </a:solidFill>
              </a:rPr>
              <a:t>Rules · Skills · Commands 전체를 파일 하나로 자동 세팅
새 프로젝트에 이 파일 하나만 주면 AI 운영 체계 즉시 구성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572000"/>
            <a:ext cx="11247120" cy="1691640"/>
          </a:xfrm>
          <a:prstGeom prst="rect">
            <a:avLst/>
          </a:prstGeom>
          <a:noFill/>
          <a:ln w="1016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57200" y="4572000"/>
            <a:ext cx="11247120" cy="40233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57200" y="4572000"/>
            <a:ext cx="1463040" cy="402336"/>
          </a:xfrm>
          <a:prstGeom prst="rect">
            <a:avLst/>
          </a:prstGeom>
          <a:solidFill>
            <a:srgbClr val="3F5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57200" y="4572000"/>
            <a:ext cx="14630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본인 기법
구성  +2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57400" y="4636008"/>
            <a:ext cx="9509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F51B5"/>
                </a:solidFill>
              </a:rPr>
              <a:t>기법 3  —  단계별 개발 계획 · 진행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5047488"/>
            <a:ext cx="10789920" cy="1161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12121"/>
                </a:solidFill>
              </a:rPr>
              <a:t>개발 전 단계별 계획 수립 → AI 구현 → 직접 점검 · 이해 → 다음 단계 진행
AI 의존 개발에서 코드 이해도를 유지하기 위한 개인 워크플로우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3F51B5"/>
                </a:solidFill>
              </a:rPr>
              <a:t>5.  개발 방식 — AI 워크플로우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E9E9E"/>
                </a:solidFill>
              </a:rPr>
              <a:t>주성현  (2/2)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68680"/>
            <a:ext cx="12188952" cy="45720"/>
          </a:xfrm>
          <a:prstGeom prst="rect">
            <a:avLst/>
          </a:prstGeom>
          <a:solidFill>
            <a:srgbClr val="3F5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E9E9E"/>
                </a:solidFill>
              </a:rPr>
              <a:t>6 / 23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822960"/>
            <a:ext cx="11247120" cy="2468880"/>
          </a:xfrm>
          <a:prstGeom prst="rect">
            <a:avLst/>
          </a:prstGeom>
          <a:noFill/>
          <a:ln w="1016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822960"/>
            <a:ext cx="11247120" cy="40233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200" y="822960"/>
            <a:ext cx="1463040" cy="402336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822960"/>
            <a:ext cx="14630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LLM Wiki
암묵지  +1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57400" y="886968"/>
            <a:ext cx="9509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F51B5"/>
                </a:solidFill>
              </a:rPr>
              <a:t>LLM Wiki  —  암묵지 운영  (notes/llm-wiki.md · 11개 항목)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1298448"/>
            <a:ext cx="10789920" cy="1938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12121"/>
                </a:solidFill>
              </a:rPr>
              <a:t>개발 중 배운 AI 사용 인사이트 직접 기록
Flutter 실행 환경 / 에이전트 호출법 / ADR 개념 / python-pptx 단위 변환 등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520440"/>
            <a:ext cx="11247120" cy="2468880"/>
          </a:xfrm>
          <a:prstGeom prst="rect">
            <a:avLst/>
          </a:prstGeom>
          <a:noFill/>
          <a:ln w="1016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57200" y="3520440"/>
            <a:ext cx="11247120" cy="40233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57200" y="3520440"/>
            <a:ext cx="1463040" cy="402336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7200" y="3520440"/>
            <a:ext cx="14630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AI 리포트
발표  +2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3584448"/>
            <a:ext cx="9509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F51B5"/>
                </a:solidFill>
              </a:rPr>
              <a:t>AI Agent 리포트  —  Claude Code 활용 사례 발표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3995928"/>
            <a:ext cx="10789920" cy="1938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12121"/>
                </a:solidFill>
              </a:rPr>
              <a:t>Claude Code(Anthropic, 2024~)로 서브에이전트 제작 · 커스텀 명령어 운영 · 단계별 개발 수행
최근 6개월 이내 지속 업데이트 도구 · 출처: claude.ai/code  (공식 문서)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3F51B5"/>
                </a:solidFill>
              </a:rPr>
              <a:t>6.  개발 방식 — AI 워크플로우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E9E9E"/>
                </a:solidFill>
              </a:rPr>
              <a:t>정경우  (1/2)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68680"/>
            <a:ext cx="12188952" cy="45720"/>
          </a:xfrm>
          <a:prstGeom prst="rect">
            <a:avLst/>
          </a:prstGeom>
          <a:solidFill>
            <a:srgbClr val="3F5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E9E9E"/>
                </a:solidFill>
              </a:rPr>
              <a:t>7 / 23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914400"/>
            <a:ext cx="11247120" cy="1691640"/>
          </a:xfrm>
          <a:prstGeom prst="rect">
            <a:avLst/>
          </a:prstGeom>
          <a:noFill/>
          <a:ln w="1016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914400"/>
            <a:ext cx="11247120" cy="40233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200" y="914400"/>
            <a:ext cx="1463040" cy="402336"/>
          </a:xfrm>
          <a:prstGeom prst="rect">
            <a:avLst/>
          </a:prstGeom>
          <a:solidFill>
            <a:srgbClr val="E6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914400"/>
            <a:ext cx="14630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AI 워크플로우
활용  +1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57400" y="978408"/>
            <a:ext cx="9509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F51B5"/>
                </a:solidFill>
              </a:rPr>
              <a:t>pre-presentation-checker 에이전트 직접 제작 + /pc 실사용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1389888"/>
            <a:ext cx="10789920" cy="1161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12121"/>
                </a:solidFill>
              </a:rPr>
              <a:t>.claude/agents/pre-presentation-checker.md  직접 제작
발표 전 제출 서류 · 가산점 · 앱 상태를 평가 루브릭 기준으로 자동 점검 → 미완료 항목 우선 보고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743200"/>
            <a:ext cx="11247120" cy="1691640"/>
          </a:xfrm>
          <a:prstGeom prst="rect">
            <a:avLst/>
          </a:prstGeom>
          <a:noFill/>
          <a:ln w="1016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57200" y="2743200"/>
            <a:ext cx="11247120" cy="40233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57200" y="2743200"/>
            <a:ext cx="1463040" cy="402336"/>
          </a:xfrm>
          <a:prstGeom prst="rect">
            <a:avLst/>
          </a:prstGeom>
          <a:solidFill>
            <a:srgbClr val="3F5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7200" y="2743200"/>
            <a:ext cx="14630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본인 기법
구성  +2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2807208"/>
            <a:ext cx="9509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F51B5"/>
                </a:solidFill>
              </a:rPr>
              <a:t>기법 1  —  단일 md 부트스트랩  (AUTHORING.jeongkyeongwoo.v0.1.0.md)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3218688"/>
            <a:ext cx="10789920" cy="1161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12121"/>
                </a:solidFill>
              </a:rPr>
              <a:t>Rules · Skills · Commands 전체를 파일 하나로 자동 세팅
새 프로젝트에 이 파일 하나만 주면 AI 운영 체계 즉시 구성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572000"/>
            <a:ext cx="11247120" cy="1691640"/>
          </a:xfrm>
          <a:prstGeom prst="rect">
            <a:avLst/>
          </a:prstGeom>
          <a:noFill/>
          <a:ln w="1016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57200" y="4572000"/>
            <a:ext cx="11247120" cy="40233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57200" y="4572000"/>
            <a:ext cx="1463040" cy="402336"/>
          </a:xfrm>
          <a:prstGeom prst="rect">
            <a:avLst/>
          </a:prstGeom>
          <a:solidFill>
            <a:srgbClr val="3F5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57200" y="4572000"/>
            <a:ext cx="14630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본인 기법
구성  +2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57400" y="4636008"/>
            <a:ext cx="9509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F51B5"/>
                </a:solidFill>
              </a:rPr>
              <a:t>기법 3  —  단계별 보고 방식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5047488"/>
            <a:ext cx="10789920" cy="1161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12121"/>
                </a:solidFill>
              </a:rPr>
              <a:t>각 구현 단계 완료 후 AI에게 결과 보고받기 → 코드 이해도 유지
"방금 만든 기능을 3줄로 설명해줘" → 내용 이해 후 다음 단계 진행  ·  Q&amp;A 즉답 가능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3F51B5"/>
                </a:solidFill>
              </a:rPr>
              <a:t>7.  개발 방식 — AI 워크플로우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E9E9E"/>
                </a:solidFill>
              </a:rPr>
              <a:t>정경우  (2/2)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68680"/>
            <a:ext cx="12188952" cy="45720"/>
          </a:xfrm>
          <a:prstGeom prst="rect">
            <a:avLst/>
          </a:prstGeom>
          <a:solidFill>
            <a:srgbClr val="3F5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E9E9E"/>
                </a:solidFill>
              </a:rPr>
              <a:t>8 / 23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822960"/>
            <a:ext cx="11247120" cy="2468880"/>
          </a:xfrm>
          <a:prstGeom prst="rect">
            <a:avLst/>
          </a:prstGeom>
          <a:noFill/>
          <a:ln w="1016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822960"/>
            <a:ext cx="11247120" cy="40233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200" y="822960"/>
            <a:ext cx="1463040" cy="402336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822960"/>
            <a:ext cx="14630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LLM Wiki
암묵지  +1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57400" y="886968"/>
            <a:ext cx="9509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F51B5"/>
                </a:solidFill>
              </a:rPr>
              <a:t>LLM Wiki  —  암묵지 운영  (notes/llm-wiki-jeongkyeongwoo.md · 10개 항목)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1298448"/>
            <a:ext cx="10789920" cy="1938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12121"/>
                </a:solidFill>
              </a:rPr>
              <a:t>개발 중 배운 AI 사용 인사이트 직접 기록
AI 활용법 / Firebase 실전 경험 / Flutter 주의사항 / 에이전트 특화 운영 등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520440"/>
            <a:ext cx="11247120" cy="2468880"/>
          </a:xfrm>
          <a:prstGeom prst="rect">
            <a:avLst/>
          </a:prstGeom>
          <a:noFill/>
          <a:ln w="1016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57200" y="3520440"/>
            <a:ext cx="11247120" cy="40233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57200" y="3520440"/>
            <a:ext cx="1463040" cy="402336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7200" y="3520440"/>
            <a:ext cx="14630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AI 리포트
발표  +2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3584448"/>
            <a:ext cx="9509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F51B5"/>
                </a:solidFill>
              </a:rPr>
              <a:t>AI Agent 리포트  —  Claude Code 활용 사례 발표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3995928"/>
            <a:ext cx="10789920" cy="1938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12121"/>
                </a:solidFill>
              </a:rPr>
              <a:t>Claude Code(Anthropic, 2024~)로 서브에이전트 제작 · 커스텀 명령어 운영 · 단계별 보고 방식 수행
최근 6개월 이내 지속 업데이트 도구 · 출처: claude.ai/code  (공식 문서)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3F51B5"/>
                </a:solidFill>
              </a:rPr>
              <a:t>8.  아키텍처 다이어그램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E9E9E"/>
                </a:solidFill>
              </a:rPr>
              <a:t>4레이어 구조 — 역할 분리로 유지보수 용이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68680"/>
            <a:ext cx="12188952" cy="45720"/>
          </a:xfrm>
          <a:prstGeom prst="rect">
            <a:avLst/>
          </a:prstGeom>
          <a:solidFill>
            <a:srgbClr val="3F5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E9E9E"/>
                </a:solidFill>
              </a:rPr>
              <a:t>9 / 23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05840"/>
            <a:ext cx="11247120" cy="1078992"/>
          </a:xfrm>
          <a:prstGeom prst="rect">
            <a:avLst/>
          </a:prstGeom>
          <a:noFill/>
          <a:ln w="19050">
            <a:solidFill>
              <a:srgbClr val="3F51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1005840"/>
            <a:ext cx="2103120" cy="1078992"/>
          </a:xfrm>
          <a:prstGeom prst="rect">
            <a:avLst/>
          </a:prstGeom>
          <a:solidFill>
            <a:srgbClr val="3F5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1143000"/>
            <a:ext cx="187451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Presentation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627632"/>
            <a:ext cx="187451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5CAE9"/>
                </a:solidFill>
              </a:rPr>
              <a:t>screens/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97480" y="1188720"/>
            <a:ext cx="5943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12121"/>
                </a:solidFill>
              </a:rPr>
              <a:t>화면 렌더링 · 사용자 입력 처리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97480" y="1645920"/>
            <a:ext cx="5943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E9E9E"/>
                </a:solidFill>
              </a:rPr>
              <a:t>Flutter Widget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778240" y="1005840"/>
            <a:ext cx="2834640" cy="1078992"/>
          </a:xfrm>
          <a:prstGeom prst="rect">
            <a:avLst/>
          </a:prstGeom>
          <a:solidFill>
            <a:srgbClr val="F5F5F5"/>
          </a:solidFill>
          <a:ln w="1016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915400" y="1353312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E9E9E"/>
                </a:solidFill>
              </a:rPr>
              <a:t>Flutter Widget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52160" y="2066544"/>
            <a:ext cx="548640" cy="210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3F51B5"/>
                </a:solidFill>
              </a:rPr>
              <a:t>▼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249424"/>
            <a:ext cx="11247120" cy="1078992"/>
          </a:xfrm>
          <a:prstGeom prst="rect">
            <a:avLst/>
          </a:prstGeom>
          <a:noFill/>
          <a:ln w="19050">
            <a:solidFill>
              <a:srgbClr val="3F51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57200" y="2249424"/>
            <a:ext cx="2103120" cy="1078992"/>
          </a:xfrm>
          <a:prstGeom prst="rect">
            <a:avLst/>
          </a:prstGeom>
          <a:solidFill>
            <a:srgbClr val="3F5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94360" y="2386584"/>
            <a:ext cx="187451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Application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2871216"/>
            <a:ext cx="187451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5CAE9"/>
                </a:solidFill>
              </a:rPr>
              <a:t>services/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97480" y="2432304"/>
            <a:ext cx="5943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12121"/>
                </a:solidFill>
              </a:rPr>
              <a:t>Firebase 호출 · 상태 관리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889504"/>
            <a:ext cx="5943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E9E9E"/>
                </a:solidFill>
              </a:rPr>
              <a:t>FirestoreService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778240" y="2249424"/>
            <a:ext cx="2834640" cy="1078992"/>
          </a:xfrm>
          <a:prstGeom prst="rect">
            <a:avLst/>
          </a:prstGeom>
          <a:solidFill>
            <a:srgbClr val="F5F5F5"/>
          </a:solidFill>
          <a:ln w="1016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915400" y="2596896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E9E9E"/>
                </a:solidFill>
              </a:rPr>
              <a:t>FirestoreService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52160" y="3310127"/>
            <a:ext cx="548640" cy="210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3F51B5"/>
                </a:solidFill>
              </a:rPr>
              <a:t>▼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3493008"/>
            <a:ext cx="11247120" cy="1078992"/>
          </a:xfrm>
          <a:prstGeom prst="rect">
            <a:avLst/>
          </a:prstGeom>
          <a:noFill/>
          <a:ln w="19050">
            <a:solidFill>
              <a:srgbClr val="3F51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57200" y="3493008"/>
            <a:ext cx="2103120" cy="1078992"/>
          </a:xfrm>
          <a:prstGeom prst="rect">
            <a:avLst/>
          </a:prstGeom>
          <a:solidFill>
            <a:srgbClr val="3F5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94360" y="3630168"/>
            <a:ext cx="187451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Domain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4114800"/>
            <a:ext cx="187451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5CAE9"/>
                </a:solidFill>
              </a:rPr>
              <a:t>models/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97480" y="3675887"/>
            <a:ext cx="5943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12121"/>
                </a:solidFill>
              </a:rPr>
              <a:t>수익률 · 잔액 등 계산식 정의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697480" y="4133087"/>
            <a:ext cx="5943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E9E9E"/>
                </a:solidFill>
              </a:rPr>
              <a:t>Position / Account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778240" y="3493008"/>
            <a:ext cx="2834640" cy="1078992"/>
          </a:xfrm>
          <a:prstGeom prst="rect">
            <a:avLst/>
          </a:prstGeom>
          <a:solidFill>
            <a:srgbClr val="F5F5F5"/>
          </a:solidFill>
          <a:ln w="1016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915400" y="3840480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E9E9E"/>
                </a:solidFill>
              </a:rPr>
              <a:t>Position / Account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52160" y="4553712"/>
            <a:ext cx="548640" cy="210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3F51B5"/>
                </a:solidFill>
              </a:rPr>
              <a:t>▼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4736592"/>
            <a:ext cx="11247120" cy="1078992"/>
          </a:xfrm>
          <a:prstGeom prst="rect">
            <a:avLst/>
          </a:prstGeom>
          <a:noFill/>
          <a:ln w="19050">
            <a:solidFill>
              <a:srgbClr val="3F51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457200" y="4736592"/>
            <a:ext cx="2103120" cy="1078992"/>
          </a:xfrm>
          <a:prstGeom prst="rect">
            <a:avLst/>
          </a:prstGeom>
          <a:solidFill>
            <a:srgbClr val="3F5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94360" y="4873752"/>
            <a:ext cx="187451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Data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" y="5358383"/>
            <a:ext cx="187451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5CAE9"/>
                </a:solidFill>
              </a:rPr>
              <a:t>Firebase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19472"/>
            <a:ext cx="5943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12121"/>
                </a:solidFill>
              </a:rPr>
              <a:t>Firestore CRUD · Auth 인증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697480" y="5376672"/>
            <a:ext cx="5943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E9E9E"/>
                </a:solidFill>
              </a:rPr>
              <a:t>Cloud Firestore / Auth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778240" y="4736592"/>
            <a:ext cx="2834640" cy="1078992"/>
          </a:xfrm>
          <a:prstGeom prst="rect">
            <a:avLst/>
          </a:prstGeom>
          <a:solidFill>
            <a:srgbClr val="F5F5F5"/>
          </a:solidFill>
          <a:ln w="1016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915400" y="5084064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E9E9E"/>
                </a:solidFill>
              </a:rPr>
              <a:t>Cloud Firestore / Auth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3F51B5"/>
                </a:solidFill>
              </a:rPr>
              <a:t>9.  활용 방안 &amp; 기대 효과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E9E9E"/>
                </a:solidFill>
              </a:rPr>
              <a:t>이 앱으로 무엇을 할 수 있는가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68680"/>
            <a:ext cx="12188952" cy="45720"/>
          </a:xfrm>
          <a:prstGeom prst="rect">
            <a:avLst/>
          </a:prstGeom>
          <a:solidFill>
            <a:srgbClr val="3F5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E9E9E"/>
                </a:solidFill>
              </a:rPr>
              <a:t>10 / 23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51560"/>
            <a:ext cx="11247120" cy="1417320"/>
          </a:xfrm>
          <a:prstGeom prst="rect">
            <a:avLst/>
          </a:prstGeom>
          <a:noFill/>
          <a:ln w="1016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1051560"/>
            <a:ext cx="54864" cy="14173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200" y="1051560"/>
            <a:ext cx="11247120" cy="43891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8368" y="11430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F51B5"/>
                </a:solidFill>
              </a:rPr>
              <a:t>투자 기록 통합 관리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563624"/>
            <a:ext cx="1078992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12121"/>
                </a:solidFill>
              </a:rPr>
              <a:t>주식·코인 계좌를 한 앱에서 관리  ·  입출금·잔액·수익률 자동 계산
여러 계좌에 흩어진 투자 현황을 대시보드 한 화면에서 즉시 파악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715768"/>
            <a:ext cx="11247120" cy="1417320"/>
          </a:xfrm>
          <a:prstGeom prst="rect">
            <a:avLst/>
          </a:prstGeom>
          <a:noFill/>
          <a:ln w="1016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57200" y="2715768"/>
            <a:ext cx="54864" cy="14173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57200" y="2715768"/>
            <a:ext cx="11247120" cy="43891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8368" y="280720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F51B5"/>
                </a:solidFill>
              </a:rPr>
              <a:t>복기를 통한 실력 향상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3227832"/>
            <a:ext cx="1078992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12121"/>
                </a:solidFill>
              </a:rPr>
              <a:t>매수 근거 · 목표가 · 손절가를 기록하고, 정리 후 실제 손익과 나란히 비교
패턴 파악 → 반복 실수 방지 → 장기적으로 판단력 향상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379976"/>
            <a:ext cx="11247120" cy="1417320"/>
          </a:xfrm>
          <a:prstGeom prst="rect">
            <a:avLst/>
          </a:prstGeom>
          <a:noFill/>
          <a:ln w="1016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57200" y="4379976"/>
            <a:ext cx="54864" cy="14173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57200" y="4379976"/>
            <a:ext cx="11247120" cy="43891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8368" y="4471416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F51B5"/>
                </a:solidFill>
              </a:rPr>
              <a:t>지속적인 성과 추적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4892040"/>
            <a:ext cx="1078992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12121"/>
                </a:solidFill>
              </a:rPr>
              <a:t>수익률 막대 차트 · 누적 손익 라인 차트 · 기간 필터로 성과 시각화
승률·누적 손익 등 핵심 지표를 대시보드에서 상시 모니터링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3F51B5"/>
                </a:solidFill>
              </a:rPr>
              <a:t>ADR-0001  —  모바일 프레임워크 선택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88952" cy="45720"/>
          </a:xfrm>
          <a:prstGeom prst="rect">
            <a:avLst/>
          </a:prstGeom>
          <a:solidFill>
            <a:srgbClr val="3F5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E9E9E"/>
                </a:solidFill>
              </a:rPr>
              <a:t>11 / 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8755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E9E9E"/>
                </a:solidFill>
              </a:rPr>
              <a:t>선택지 비교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89888"/>
            <a:ext cx="11247120" cy="1024128"/>
          </a:xfrm>
          <a:prstGeom prst="rect">
            <a:avLst/>
          </a:prstGeom>
          <a:noFill/>
          <a:ln w="1016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1499616"/>
            <a:ext cx="11064240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E9E9E"/>
                </a:solidFill>
              </a:rPr>
              <a:t>React Native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651760"/>
            <a:ext cx="11247120" cy="1024128"/>
          </a:xfrm>
          <a:prstGeom prst="rect">
            <a:avLst/>
          </a:prstGeom>
          <a:noFill/>
          <a:ln w="1016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94360" y="2761488"/>
            <a:ext cx="11064240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E9E9E"/>
                </a:solidFill>
              </a:rPr>
              <a:t>안드로이드 전용 개발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913631"/>
            <a:ext cx="11247120" cy="1024128"/>
          </a:xfrm>
          <a:prstGeom prst="rect">
            <a:avLst/>
          </a:prstGeom>
          <a:noFill/>
          <a:ln w="1016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94360" y="4023359"/>
            <a:ext cx="11064240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E9E9E"/>
                </a:solidFill>
              </a:rPr>
              <a:t>아이폰 전용 개발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5175504"/>
            <a:ext cx="11247120" cy="1024128"/>
          </a:xfrm>
          <a:prstGeom prst="rect">
            <a:avLst/>
          </a:prstGeom>
          <a:solidFill>
            <a:srgbClr val="3F5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94360" y="5285232"/>
            <a:ext cx="11064240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✓  Flutter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3F51B5"/>
                </a:solidFill>
              </a:rPr>
              <a:t>ADR-0002  —  아키텍처 패턴 선택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88952" cy="45720"/>
          </a:xfrm>
          <a:prstGeom prst="rect">
            <a:avLst/>
          </a:prstGeom>
          <a:solidFill>
            <a:srgbClr val="3F5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E9E9E"/>
                </a:solidFill>
              </a:rPr>
              <a:t>12 / 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87552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E9E9E"/>
                </a:solidFill>
              </a:rPr>
              <a:t>선택지 비교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89888"/>
            <a:ext cx="5486400" cy="1024128"/>
          </a:xfrm>
          <a:prstGeom prst="rect">
            <a:avLst/>
          </a:prstGeom>
          <a:noFill/>
          <a:ln w="1016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1499616"/>
            <a:ext cx="5303520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E9E9E"/>
                </a:solidFill>
              </a:rPr>
              <a:t>역할 구분 없이 한 파일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651760"/>
            <a:ext cx="5486400" cy="1024128"/>
          </a:xfrm>
          <a:prstGeom prst="rect">
            <a:avLst/>
          </a:prstGeom>
          <a:noFill/>
          <a:ln w="1016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94360" y="2761488"/>
            <a:ext cx="5303520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E9E9E"/>
                </a:solidFill>
              </a:rPr>
              <a:t>MVC 방식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913631"/>
            <a:ext cx="5486400" cy="1024128"/>
          </a:xfrm>
          <a:prstGeom prst="rect">
            <a:avLst/>
          </a:prstGeom>
          <a:noFill/>
          <a:ln w="1016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94360" y="4023359"/>
            <a:ext cx="5303520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E9E9E"/>
                </a:solidFill>
              </a:rPr>
              <a:t>6 ~ 8개 레이어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5175504"/>
            <a:ext cx="5486400" cy="1024128"/>
          </a:xfrm>
          <a:prstGeom prst="rect">
            <a:avLst/>
          </a:prstGeom>
          <a:solidFill>
            <a:srgbClr val="3F5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94360" y="5285232"/>
            <a:ext cx="5303520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✓  4레이어 구조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987552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E9E9E"/>
                </a:solidFill>
              </a:rPr>
              <a:t>선택된 4레이어 구조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1389888"/>
            <a:ext cx="1371600" cy="822960"/>
          </a:xfrm>
          <a:prstGeom prst="rect">
            <a:avLst/>
          </a:prstGeom>
          <a:solidFill>
            <a:srgbClr val="F5F5F5"/>
          </a:solidFill>
          <a:ln w="1016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10528" y="1591056"/>
            <a:ext cx="1188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F51B5"/>
                </a:solidFill>
              </a:rPr>
              <a:t>레이어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818120" y="1389888"/>
            <a:ext cx="2560320" cy="822960"/>
          </a:xfrm>
          <a:prstGeom prst="rect">
            <a:avLst/>
          </a:prstGeom>
          <a:solidFill>
            <a:srgbClr val="F5F5F5"/>
          </a:solidFill>
          <a:ln w="1016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927848" y="1591056"/>
            <a:ext cx="237743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F51B5"/>
                </a:solidFill>
              </a:rPr>
              <a:t>역할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424160" y="1389888"/>
            <a:ext cx="1737360" cy="822960"/>
          </a:xfrm>
          <a:prstGeom prst="rect">
            <a:avLst/>
          </a:prstGeom>
          <a:solidFill>
            <a:srgbClr val="F5F5F5"/>
          </a:solidFill>
          <a:ln w="1016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533888" y="1591056"/>
            <a:ext cx="1554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F51B5"/>
                </a:solidFill>
              </a:rPr>
              <a:t>위치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2395728"/>
            <a:ext cx="1371600" cy="822960"/>
          </a:xfrm>
          <a:prstGeom prst="rect">
            <a:avLst/>
          </a:prstGeom>
          <a:solidFill>
            <a:srgbClr val="FFFFFF"/>
          </a:solidFill>
          <a:ln w="1016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510528" y="2596896"/>
            <a:ext cx="1188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12121"/>
                </a:solidFill>
              </a:rPr>
              <a:t>화면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818120" y="2395728"/>
            <a:ext cx="2560320" cy="822960"/>
          </a:xfrm>
          <a:prstGeom prst="rect">
            <a:avLst/>
          </a:prstGeom>
          <a:solidFill>
            <a:srgbClr val="FFFFFF"/>
          </a:solidFill>
          <a:ln w="1016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927848" y="2596896"/>
            <a:ext cx="237743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12121"/>
                </a:solidFill>
              </a:rPr>
              <a:t>버튼·목록·입력창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424160" y="2395728"/>
            <a:ext cx="1737360" cy="822960"/>
          </a:xfrm>
          <a:prstGeom prst="rect">
            <a:avLst/>
          </a:prstGeom>
          <a:solidFill>
            <a:srgbClr val="FFFFFF"/>
          </a:solidFill>
          <a:ln w="1016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533888" y="2596896"/>
            <a:ext cx="1554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12121"/>
                </a:solidFill>
              </a:rPr>
              <a:t>screens/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0" y="3401568"/>
            <a:ext cx="1371600" cy="822960"/>
          </a:xfrm>
          <a:prstGeom prst="rect">
            <a:avLst/>
          </a:prstGeom>
          <a:solidFill>
            <a:srgbClr val="FFFFFF"/>
          </a:solidFill>
          <a:ln w="1016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510528" y="3602736"/>
            <a:ext cx="1188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12121"/>
                </a:solidFill>
              </a:rPr>
              <a:t>흐름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818120" y="3401568"/>
            <a:ext cx="2560320" cy="822960"/>
          </a:xfrm>
          <a:prstGeom prst="rect">
            <a:avLst/>
          </a:prstGeom>
          <a:solidFill>
            <a:srgbClr val="FFFFFF"/>
          </a:solidFill>
          <a:ln w="1016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927848" y="3602736"/>
            <a:ext cx="237743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12121"/>
                </a:solidFill>
              </a:rPr>
              <a:t>화면-데이터 연결 처리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424160" y="3401568"/>
            <a:ext cx="1737360" cy="822960"/>
          </a:xfrm>
          <a:prstGeom prst="rect">
            <a:avLst/>
          </a:prstGeom>
          <a:solidFill>
            <a:srgbClr val="FFFFFF"/>
          </a:solidFill>
          <a:ln w="1016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0533888" y="3602736"/>
            <a:ext cx="1554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400800" y="4407408"/>
            <a:ext cx="1371600" cy="822960"/>
          </a:xfrm>
          <a:prstGeom prst="rect">
            <a:avLst/>
          </a:prstGeom>
          <a:solidFill>
            <a:srgbClr val="FFFFFF"/>
          </a:solidFill>
          <a:ln w="1016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510528" y="4608576"/>
            <a:ext cx="1188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12121"/>
                </a:solidFill>
              </a:rPr>
              <a:t>규칙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818120" y="4407408"/>
            <a:ext cx="2560320" cy="822960"/>
          </a:xfrm>
          <a:prstGeom prst="rect">
            <a:avLst/>
          </a:prstGeom>
          <a:solidFill>
            <a:srgbClr val="FFFFFF"/>
          </a:solidFill>
          <a:ln w="1016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927848" y="4608576"/>
            <a:ext cx="237743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12121"/>
                </a:solidFill>
              </a:rPr>
              <a:t>잔액·수익률 계산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424160" y="4407408"/>
            <a:ext cx="1737360" cy="822960"/>
          </a:xfrm>
          <a:prstGeom prst="rect">
            <a:avLst/>
          </a:prstGeom>
          <a:solidFill>
            <a:srgbClr val="FFFFFF"/>
          </a:solidFill>
          <a:ln w="1016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0533888" y="4608576"/>
            <a:ext cx="1554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12121"/>
                </a:solidFill>
              </a:rPr>
              <a:t>models/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00800" y="5413248"/>
            <a:ext cx="1371600" cy="822960"/>
          </a:xfrm>
          <a:prstGeom prst="rect">
            <a:avLst/>
          </a:prstGeom>
          <a:solidFill>
            <a:srgbClr val="FFFFFF"/>
          </a:solidFill>
          <a:ln w="1016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510528" y="5614416"/>
            <a:ext cx="1188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12121"/>
                </a:solidFill>
              </a:rPr>
              <a:t>저장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818120" y="5413248"/>
            <a:ext cx="2560320" cy="822960"/>
          </a:xfrm>
          <a:prstGeom prst="rect">
            <a:avLst/>
          </a:prstGeom>
          <a:solidFill>
            <a:srgbClr val="FFFFFF"/>
          </a:solidFill>
          <a:ln w="1016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7927848" y="5614416"/>
            <a:ext cx="237743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12121"/>
                </a:solidFill>
              </a:rPr>
              <a:t>Firestore 입출력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0424160" y="5413248"/>
            <a:ext cx="1737360" cy="822960"/>
          </a:xfrm>
          <a:prstGeom prst="rect">
            <a:avLst/>
          </a:prstGeom>
          <a:solidFill>
            <a:srgbClr val="FFFFFF"/>
          </a:solidFill>
          <a:ln w="1016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10533888" y="5614416"/>
            <a:ext cx="1554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12121"/>
                </a:solidFill>
              </a:rPr>
              <a:t>services/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3F51B5"/>
                </a:solidFill>
              </a:rPr>
              <a:t>ADR-0003  —  백엔드 서비스 선택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88952" cy="45720"/>
          </a:xfrm>
          <a:prstGeom prst="rect">
            <a:avLst/>
          </a:prstGeom>
          <a:solidFill>
            <a:srgbClr val="3F5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E9E9E"/>
                </a:solidFill>
              </a:rPr>
              <a:t>13 / 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8755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E9E9E"/>
                </a:solidFill>
              </a:rPr>
              <a:t>선택지 비교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89888"/>
            <a:ext cx="11247120" cy="1024128"/>
          </a:xfrm>
          <a:prstGeom prst="rect">
            <a:avLst/>
          </a:prstGeom>
          <a:noFill/>
          <a:ln w="1016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1499616"/>
            <a:ext cx="11064240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E9E9E"/>
                </a:solidFill>
              </a:rPr>
              <a:t>Supabase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651760"/>
            <a:ext cx="11247120" cy="1024128"/>
          </a:xfrm>
          <a:prstGeom prst="rect">
            <a:avLst/>
          </a:prstGeom>
          <a:noFill/>
          <a:ln w="1016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94360" y="2761488"/>
            <a:ext cx="11064240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E9E9E"/>
                </a:solidFill>
              </a:rPr>
              <a:t>폰 내부 저장 (SQLite 등)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913631"/>
            <a:ext cx="11247120" cy="1024128"/>
          </a:xfrm>
          <a:prstGeom prst="rect">
            <a:avLst/>
          </a:prstGeom>
          <a:noFill/>
          <a:ln w="1016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94360" y="4023359"/>
            <a:ext cx="11064240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E9E9E"/>
                </a:solidFill>
              </a:rPr>
              <a:t>직접 서버 구축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5175504"/>
            <a:ext cx="11247120" cy="1024128"/>
          </a:xfrm>
          <a:prstGeom prst="rect">
            <a:avLst/>
          </a:prstGeom>
          <a:solidFill>
            <a:srgbClr val="3F5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94360" y="5285232"/>
            <a:ext cx="11064240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✓  Firebase (Auth + Firestore)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3F51B5"/>
                </a:solidFill>
              </a:rPr>
              <a:t>10.  개발 환경 · 빌드 &amp; 배포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E9E9E"/>
                </a:solidFill>
              </a:rPr>
              <a:t>설치부터 배포까지 — GitHub 가이드 참고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68680"/>
            <a:ext cx="12188952" cy="45720"/>
          </a:xfrm>
          <a:prstGeom prst="rect">
            <a:avLst/>
          </a:prstGeom>
          <a:solidFill>
            <a:srgbClr val="3F5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E9E9E"/>
                </a:solidFill>
              </a:rPr>
              <a:t>14 / 23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51560"/>
            <a:ext cx="11247120" cy="1417320"/>
          </a:xfrm>
          <a:prstGeom prst="rect">
            <a:avLst/>
          </a:prstGeom>
          <a:noFill/>
          <a:ln w="1016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1051560"/>
            <a:ext cx="54864" cy="1417320"/>
          </a:xfrm>
          <a:prstGeom prst="rect">
            <a:avLst/>
          </a:prstGeom>
          <a:solidFill>
            <a:srgbClr val="3F5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200" y="1051560"/>
            <a:ext cx="11247120" cy="43891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8368" y="11430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F51B5"/>
                </a:solidFill>
              </a:rPr>
              <a:t>개발 환경 구성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563624"/>
            <a:ext cx="1078992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12121"/>
                </a:solidFill>
              </a:rPr>
              <a:t>Flutter SDK 3.x  ·  Dart SDK 3.x  ·  VS Code + Flutter/Dart 확장
Firebase CLI 15.x  ·  Android Studio (에뮬레이터·SDK)  ·  Git
설치 가이드: README.md → docs/setup.md 순서대로 진행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715768"/>
            <a:ext cx="11247120" cy="1417320"/>
          </a:xfrm>
          <a:prstGeom prst="rect">
            <a:avLst/>
          </a:prstGeom>
          <a:noFill/>
          <a:ln w="1016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57200" y="2715768"/>
            <a:ext cx="54864" cy="1417320"/>
          </a:xfrm>
          <a:prstGeom prst="rect">
            <a:avLst/>
          </a:prstGeom>
          <a:solidFill>
            <a:srgbClr val="3F5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57200" y="2715768"/>
            <a:ext cx="11247120" cy="43891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8368" y="280720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F51B5"/>
                </a:solidFill>
              </a:rPr>
              <a:t>빌드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3227832"/>
            <a:ext cx="1078992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12121"/>
                </a:solidFill>
              </a:rPr>
              <a:t>flutter pub get  →  flutter run  (개발·디버그 빌드)
flutter build apk --release  →  APK 생성  ·  build/app/outputs/apk/release/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379976"/>
            <a:ext cx="11247120" cy="1417320"/>
          </a:xfrm>
          <a:prstGeom prst="rect">
            <a:avLst/>
          </a:prstGeom>
          <a:noFill/>
          <a:ln w="1016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57200" y="4379976"/>
            <a:ext cx="54864" cy="1417320"/>
          </a:xfrm>
          <a:prstGeom prst="rect">
            <a:avLst/>
          </a:prstGeom>
          <a:solidFill>
            <a:srgbClr val="3F5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57200" y="4379976"/>
            <a:ext cx="11247120" cy="43891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8368" y="4471416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F51B5"/>
                </a:solidFill>
              </a:rPr>
              <a:t>배포 &amp; 설치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4892040"/>
            <a:ext cx="1078992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12121"/>
                </a:solidFill>
              </a:rPr>
              <a:t>Firebase Auth + Firestore: 이미 연동 완료 (firebase_options.dart)
Android APK 직접 설치: USB 케이블 + adb install app-release.apk
Firebase Hosting (web): flutter build web → firebase deploy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3F51B5"/>
                </a:solidFill>
              </a:rPr>
              <a:t>11.  어려운 점 / 도움 요청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88952" cy="45720"/>
          </a:xfrm>
          <a:prstGeom prst="rect">
            <a:avLst/>
          </a:prstGeom>
          <a:solidFill>
            <a:srgbClr val="3F5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E9E9E"/>
                </a:solidFill>
              </a:rPr>
              <a:t>15 / 23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11247120" cy="1417320"/>
          </a:xfrm>
          <a:prstGeom prst="rect">
            <a:avLst/>
          </a:prstGeom>
          <a:noFill/>
          <a:ln w="1016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051560"/>
            <a:ext cx="54864" cy="1417320"/>
          </a:xfrm>
          <a:prstGeom prst="rect">
            <a:avLst/>
          </a:prstGeom>
          <a:solidFill>
            <a:srgbClr val="E6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8368" y="118871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12121"/>
                </a:solidFill>
              </a:rPr>
              <a:t>iOS 빌드 불가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18488"/>
            <a:ext cx="107899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12121"/>
                </a:solidFill>
              </a:rPr>
              <a:t>Mac 환경 없음 → iOS 시뮬레이터·실기기 테스트 불가
Android APK만 제출 예정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715768"/>
            <a:ext cx="11247120" cy="1417320"/>
          </a:xfrm>
          <a:prstGeom prst="rect">
            <a:avLst/>
          </a:prstGeom>
          <a:noFill/>
          <a:ln w="1016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7200" y="2715768"/>
            <a:ext cx="54864" cy="1417320"/>
          </a:xfrm>
          <a:prstGeom prst="rect">
            <a:avLst/>
          </a:prstGeom>
          <a:solidFill>
            <a:srgbClr val="E6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8368" y="2852927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12121"/>
                </a:solidFill>
              </a:rPr>
              <a:t>Firebase Security Rules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3282696"/>
            <a:ext cx="107899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12121"/>
                </a:solidFill>
              </a:rPr>
              <a:t>Firestore 보안 규칙 검증 어려움 — 다른 사용자가 타 계정 데이터에
접근하지 못하도록 규칙을 작성했으나 침투 테스트 환경 없음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379976"/>
            <a:ext cx="11247120" cy="1417320"/>
          </a:xfrm>
          <a:prstGeom prst="rect">
            <a:avLst/>
          </a:prstGeom>
          <a:noFill/>
          <a:ln w="1016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57200" y="4379976"/>
            <a:ext cx="54864" cy="1417320"/>
          </a:xfrm>
          <a:prstGeom prst="rect">
            <a:avLst/>
          </a:prstGeom>
          <a:solidFill>
            <a:srgbClr val="E6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8368" y="4517136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12121"/>
                </a:solidFill>
              </a:rPr>
              <a:t>앱 배포 경험 없음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4946904"/>
            <a:ext cx="107899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12121"/>
                </a:solidFill>
              </a:rPr>
              <a:t>Google Play Console 등록 절차 및 APK 서명 과정 첫 시도
배포 및 오류 발생 시 대응 방법 조언 필요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3F51B5"/>
                </a:solidFill>
              </a:rPr>
              <a:t>12.  코드 품질 · 테스트 · 성능 최적화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88952" cy="45720"/>
          </a:xfrm>
          <a:prstGeom prst="rect">
            <a:avLst/>
          </a:prstGeom>
          <a:solidFill>
            <a:srgbClr val="3F5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E9E9E"/>
                </a:solidFill>
              </a:rPr>
              <a:t>16 / 23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11247120" cy="1417320"/>
          </a:xfrm>
          <a:prstGeom prst="rect">
            <a:avLst/>
          </a:prstGeom>
          <a:noFill/>
          <a:ln w="1016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051560"/>
            <a:ext cx="54864" cy="1417320"/>
          </a:xfrm>
          <a:prstGeom prst="rect">
            <a:avLst/>
          </a:prstGeom>
          <a:solidFill>
            <a:srgbClr val="E6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1051560"/>
            <a:ext cx="11247120" cy="43891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8368" y="11430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F51B5"/>
                </a:solidFill>
              </a:rPr>
              <a:t>코드 품질 관리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563624"/>
            <a:ext cx="1078992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12121"/>
                </a:solidFill>
              </a:rPr>
              <a:t>flutter_lints 적용 — 린트 경고 0건 유지  ·  4레이어 아키텍처로 역할 분리
FirestoreService 단일 책임 원칙 준수  ·  모델·서비스·화면 계층 엄격히 분리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715768"/>
            <a:ext cx="11247120" cy="1417320"/>
          </a:xfrm>
          <a:prstGeom prst="rect">
            <a:avLst/>
          </a:prstGeom>
          <a:noFill/>
          <a:ln w="1016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7200" y="2715768"/>
            <a:ext cx="54864" cy="1417320"/>
          </a:xfrm>
          <a:prstGeom prst="rect">
            <a:avLst/>
          </a:prstGeom>
          <a:solidFill>
            <a:srgbClr val="E6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57200" y="2715768"/>
            <a:ext cx="11247120" cy="43891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8368" y="280720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F51B5"/>
                </a:solidFill>
              </a:rPr>
              <a:t>단위 테스트 · 통합 테스트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3227832"/>
            <a:ext cx="1078992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12121"/>
                </a:solidFill>
              </a:rPr>
              <a:t>docs/testing.md 기반 기능별 수동 체크리스트 작성 및 확인
인증·계좌·포지션·차트·대시보드 5개 영역 E2E 시나리오 직접 수행
Firebase Auth + Firestore 실제 연동 통합 테스트 완료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379976"/>
            <a:ext cx="11247120" cy="1417320"/>
          </a:xfrm>
          <a:prstGeom prst="rect">
            <a:avLst/>
          </a:prstGeom>
          <a:noFill/>
          <a:ln w="1016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57200" y="4379976"/>
            <a:ext cx="54864" cy="1417320"/>
          </a:xfrm>
          <a:prstGeom prst="rect">
            <a:avLst/>
          </a:prstGeom>
          <a:solidFill>
            <a:srgbClr val="E6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57200" y="4379976"/>
            <a:ext cx="11247120" cy="43891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8368" y="4471416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F51B5"/>
                </a:solidFill>
              </a:rPr>
              <a:t>성능 최적화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4892040"/>
            <a:ext cx="1078992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12121"/>
                </a:solidFill>
              </a:rPr>
              <a:t>StreamBuilder — Firestore 실시간 구독으로 불필요한 poll 제거
계좌 삭제 시 Batch 처리로 하위 트랜잭션 원자적 삭제 (cascade)
FutureBuilder 캐싱으로 계좌 목록 잔액 계산 중복 호출 최소화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3F51B5"/>
                </a:solidFill>
              </a:rPr>
              <a:t>GitHub 설치 가이드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E9E9E"/>
                </a:solidFill>
              </a:rPr>
              <a:t>포트폴리오 트래커 앱 — 클론 · 설치 · 실행 방법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68680"/>
            <a:ext cx="12188952" cy="45720"/>
          </a:xfrm>
          <a:prstGeom prst="rect">
            <a:avLst/>
          </a:prstGeom>
          <a:solidFill>
            <a:srgbClr val="3F5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E9E9E"/>
                </a:solidFill>
              </a:rPr>
              <a:t>17 / 23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3200400" cy="32004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65760" y="44805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E9E9E"/>
                </a:solidFill>
              </a:rPr>
              <a:t>https://github.com/2022136020/project_c/tree/main/portfolio-tracker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1143000"/>
            <a:ext cx="7132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F51B5"/>
                </a:solidFill>
              </a:rPr>
              <a:t>1.  저장소 클론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0" y="1463040"/>
            <a:ext cx="7132320" cy="603504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709160" y="1481328"/>
            <a:ext cx="685800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12121"/>
                </a:solidFill>
              </a:rPr>
              <a:t>git clone https://github.com/2022136020/project_c.git
cd project_c/portfolio-tracker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249424"/>
            <a:ext cx="7132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F51B5"/>
                </a:solidFill>
              </a:rPr>
              <a:t>2.  패키지 설치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0" y="2569464"/>
            <a:ext cx="7132320" cy="34747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09160" y="2587752"/>
            <a:ext cx="6858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12121"/>
                </a:solidFill>
              </a:rPr>
              <a:t>flutter pub get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3099816"/>
            <a:ext cx="7132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F51B5"/>
                </a:solidFill>
              </a:rPr>
              <a:t>3.  앱 실행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0" y="3419856"/>
            <a:ext cx="7132320" cy="34747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709160" y="3438144"/>
            <a:ext cx="6858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12121"/>
                </a:solidFill>
              </a:rPr>
              <a:t>flutter run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3950208"/>
            <a:ext cx="7132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F51B5"/>
                </a:solidFill>
              </a:rPr>
              <a:t>4.  APK 빌드 (Android)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0" y="4270248"/>
            <a:ext cx="7132320" cy="34747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709160" y="4288536"/>
            <a:ext cx="6858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12121"/>
                </a:solidFill>
              </a:rPr>
              <a:t>flutter build apk --release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26364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E9E9E"/>
                </a:solidFill>
              </a:rPr>
              <a:t>상세 가이드: docs/setup.md  ·  docs/deploy.md  ·  portfolio-tracker/README.md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3F51B5"/>
                </a:solidFill>
              </a:rPr>
              <a:t>13.  데모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E9E9E"/>
                </a:solidFill>
              </a:rPr>
              <a:t>라이브 시연 — 핵심 화면 2가지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68680"/>
            <a:ext cx="12188952" cy="45720"/>
          </a:xfrm>
          <a:prstGeom prst="rect">
            <a:avLst/>
          </a:prstGeom>
          <a:solidFill>
            <a:srgbClr val="3F5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E9E9E"/>
                </a:solidFill>
              </a:rPr>
              <a:t>18 / 23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97280"/>
            <a:ext cx="11247120" cy="1920240"/>
          </a:xfrm>
          <a:prstGeom prst="rect">
            <a:avLst/>
          </a:prstGeom>
          <a:noFill/>
          <a:ln w="1016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1097280"/>
            <a:ext cx="54864" cy="1920240"/>
          </a:xfrm>
          <a:prstGeom prst="rect">
            <a:avLst/>
          </a:prstGeom>
          <a:solidFill>
            <a:srgbClr val="3F5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200" y="1097280"/>
            <a:ext cx="11247120" cy="47548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8368" y="11887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F51B5"/>
                </a:solidFill>
              </a:rPr>
              <a:t>시나리오 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06040" y="1188720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12121"/>
                </a:solidFill>
              </a:rPr>
              <a:t>계좌 관리 흐름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1737360"/>
            <a:ext cx="10881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12121"/>
                </a:solidFill>
              </a:rPr>
              <a:t>① 계좌 등록 (주식·코인 선택, 통화 선택)  → ② 입금 기록  → ③ 잔액 자동 계산 확인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383280"/>
            <a:ext cx="11247120" cy="1920240"/>
          </a:xfrm>
          <a:prstGeom prst="rect">
            <a:avLst/>
          </a:prstGeom>
          <a:noFill/>
          <a:ln w="1016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57200" y="3383280"/>
            <a:ext cx="54864" cy="1920240"/>
          </a:xfrm>
          <a:prstGeom prst="rect">
            <a:avLst/>
          </a:prstGeom>
          <a:solidFill>
            <a:srgbClr val="3F5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57200" y="3383280"/>
            <a:ext cx="11247120" cy="47548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8368" y="34747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F51B5"/>
                </a:solidFill>
              </a:rPr>
              <a:t>시나리오 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06040" y="3474720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12121"/>
                </a:solidFill>
              </a:rPr>
              <a:t>포지션 기록 + 복기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4023360"/>
            <a:ext cx="10881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12121"/>
                </a:solidFill>
              </a:rPr>
              <a:t>① 포지션 진입 기록 (종목·진입가·수량·매수 근거)  → ② 포지션 정리 (매도가·손익·수익률 자동 계산)  → ③ 복기 메모 조회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5806440"/>
            <a:ext cx="11247120" cy="658368"/>
          </a:xfrm>
          <a:prstGeom prst="rect">
            <a:avLst/>
          </a:prstGeom>
          <a:solidFill>
            <a:srgbClr val="F5F5F5"/>
          </a:solidFill>
          <a:ln w="1016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8368" y="597103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E9E9E"/>
                </a:solidFill>
              </a:rPr>
              <a:t>데모 백업  ·  Wi-Fi 없는 환경 대비 → 로컬 데이터 캐시 + 화면 녹화 영상 준비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3F51B5"/>
                </a:solidFill>
              </a:rPr>
              <a:t>14.  사용자 시나리오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E9E9E"/>
                </a:solidFill>
              </a:rPr>
              <a:t>포지션 기록과 복기 — 핵심 유즈케이스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68680"/>
            <a:ext cx="12188952" cy="45720"/>
          </a:xfrm>
          <a:prstGeom prst="rect">
            <a:avLst/>
          </a:prstGeom>
          <a:solidFill>
            <a:srgbClr val="3F5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E9E9E"/>
                </a:solidFill>
              </a:rPr>
              <a:t>19 / 23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51560"/>
            <a:ext cx="11247120" cy="1463040"/>
          </a:xfrm>
          <a:prstGeom prst="rect">
            <a:avLst/>
          </a:prstGeom>
          <a:solidFill>
            <a:srgbClr val="F5F5F5"/>
          </a:solidFill>
          <a:ln w="1016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1051560"/>
            <a:ext cx="54864" cy="1463040"/>
          </a:xfrm>
          <a:prstGeom prst="rect">
            <a:avLst/>
          </a:prstGeom>
          <a:solidFill>
            <a:srgbClr val="3F5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8368" y="11430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12121"/>
                </a:solidFill>
              </a:rPr>
              <a:t>Min은 삼성전자를 68,000원에 100주 매수했다.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554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12121"/>
                </a:solidFill>
              </a:rPr>
              <a:t>앱에 진입가 · 수량 · 매수 근거 · 목표가 · 손절가를 기록하고,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920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12121"/>
                </a:solidFill>
              </a:rPr>
              <a:t>72,000원에 매도하면 수익률(+5.9%) · 손익(+400,000원)이 자동 계산된다.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8971" y="2788920"/>
            <a:ext cx="2011680" cy="1463040"/>
          </a:xfrm>
          <a:prstGeom prst="rect">
            <a:avLst/>
          </a:prstGeom>
          <a:noFill/>
          <a:ln w="19050">
            <a:solidFill>
              <a:srgbClr val="3F51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918971" y="2788920"/>
            <a:ext cx="2011680" cy="384048"/>
          </a:xfrm>
          <a:prstGeom prst="rect">
            <a:avLst/>
          </a:prstGeom>
          <a:solidFill>
            <a:srgbClr val="3F5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8971" y="2807208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0412" y="3310128"/>
            <a:ext cx="1828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12121"/>
                </a:solidFill>
              </a:rPr>
              <a:t>로그인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57500" y="333756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3F51B5"/>
                </a:solidFill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003804" y="2788920"/>
            <a:ext cx="2011680" cy="1463040"/>
          </a:xfrm>
          <a:prstGeom prst="rect">
            <a:avLst/>
          </a:prstGeom>
          <a:noFill/>
          <a:ln w="19050">
            <a:solidFill>
              <a:srgbClr val="3F51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003804" y="2788920"/>
            <a:ext cx="2011680" cy="384048"/>
          </a:xfrm>
          <a:prstGeom prst="rect">
            <a:avLst/>
          </a:prstGeom>
          <a:solidFill>
            <a:srgbClr val="3F5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003804" y="2807208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95244" y="3310128"/>
            <a:ext cx="1828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12121"/>
                </a:solidFill>
              </a:rPr>
              <a:t>계좌
등록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42332" y="333756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3F51B5"/>
                </a:solidFill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88636" y="2788920"/>
            <a:ext cx="2011680" cy="1463040"/>
          </a:xfrm>
          <a:prstGeom prst="rect">
            <a:avLst/>
          </a:prstGeom>
          <a:noFill/>
          <a:ln w="19050">
            <a:solidFill>
              <a:srgbClr val="3F51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088636" y="2788920"/>
            <a:ext cx="2011680" cy="384048"/>
          </a:xfrm>
          <a:prstGeom prst="rect">
            <a:avLst/>
          </a:prstGeom>
          <a:solidFill>
            <a:srgbClr val="3F5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088636" y="2807208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80076" y="3310128"/>
            <a:ext cx="1828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12121"/>
                </a:solidFill>
              </a:rPr>
              <a:t>포지션
진입 기록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27164" y="333756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3F51B5"/>
                </a:solidFill>
              </a:rPr>
              <a:t>→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173468" y="2788920"/>
            <a:ext cx="2011680" cy="1463040"/>
          </a:xfrm>
          <a:prstGeom prst="rect">
            <a:avLst/>
          </a:prstGeom>
          <a:noFill/>
          <a:ln w="19050">
            <a:solidFill>
              <a:srgbClr val="3F51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7173468" y="2788920"/>
            <a:ext cx="2011680" cy="384048"/>
          </a:xfrm>
          <a:prstGeom prst="rect">
            <a:avLst/>
          </a:prstGeom>
          <a:solidFill>
            <a:srgbClr val="3F5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173468" y="2807208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64908" y="3310128"/>
            <a:ext cx="1828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12121"/>
                </a:solidFill>
              </a:rPr>
              <a:t>포지션
정리 기록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11996" y="333756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3F51B5"/>
                </a:solidFill>
              </a:rPr>
              <a:t>→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258300" y="2788920"/>
            <a:ext cx="2011680" cy="1463040"/>
          </a:xfrm>
          <a:prstGeom prst="rect">
            <a:avLst/>
          </a:prstGeom>
          <a:noFill/>
          <a:ln w="19050">
            <a:solidFill>
              <a:srgbClr val="3F51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9258300" y="2788920"/>
            <a:ext cx="2011680" cy="384048"/>
          </a:xfrm>
          <a:prstGeom prst="rect">
            <a:avLst/>
          </a:prstGeom>
          <a:solidFill>
            <a:srgbClr val="3F5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258300" y="2807208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49740" y="3310128"/>
            <a:ext cx="1828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12121"/>
                </a:solidFill>
              </a:rPr>
              <a:t>복기
메모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4572000"/>
            <a:ext cx="11247120" cy="841248"/>
          </a:xfrm>
          <a:prstGeom prst="rect">
            <a:avLst/>
          </a:prstGeom>
          <a:noFill/>
          <a:ln w="1016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457200" y="4572000"/>
            <a:ext cx="54864" cy="84124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58368" y="475488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12121"/>
                </a:solidFill>
              </a:rPr>
              <a:t>결과  ·  매수 근거와 실제 손익이 나란히 표시 → 패턴 파악 → 다음 투자 판단에 반영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56692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E9E9E"/>
                </a:solidFill>
              </a:rPr>
              <a:t>보조 시나리오: 월말 복기(손익·승률 확인) / 대시보드에서 실시간 자산 현황 조회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3F51B5"/>
                </a:solidFill>
              </a:rPr>
              <a:t>15.  포트폴리오 분석 화면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E9E9E"/>
                </a:solidFill>
              </a:rPr>
              <a:t>종목별 수익률 &amp; 누적 실현 손익 — 앱 차트 기능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68680"/>
            <a:ext cx="12188952" cy="45720"/>
          </a:xfrm>
          <a:prstGeom prst="rect">
            <a:avLst/>
          </a:prstGeom>
          <a:solidFill>
            <a:srgbClr val="3F5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E9E9E"/>
                </a:solidFill>
              </a:rPr>
              <a:t>20 / 23</a:t>
            </a:r>
          </a:p>
        </p:txBody>
      </p:sp>
      <p:pic>
        <p:nvPicPr>
          <p:cNvPr id="7" name="Picture 6" descr="chart_screensh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0990" y="1143000"/>
            <a:ext cx="3776114" cy="54864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65760" y="5989320"/>
            <a:ext cx="11430000" cy="566928"/>
          </a:xfrm>
          <a:prstGeom prst="rect">
            <a:avLst/>
          </a:prstGeom>
          <a:solidFill>
            <a:srgbClr val="F5F5F5"/>
          </a:solidFill>
          <a:ln w="1016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6108192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E9E9E"/>
                </a:solidFill>
              </a:rPr>
              <a:t>기간 필터(1주·1달·3달·6달·1년·전체) 적용 시 해당 기간 정리 포지션만 반영  ·  분할 매도 시 동일 종목 합산 표시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3F51B5"/>
                </a:solidFill>
              </a:rPr>
              <a:t>16.  향후 계획 — 지속적 기술 습득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E9E9E"/>
                </a:solidFill>
              </a:rPr>
              <a:t>실시간 주가 자동 조회 API 도입 예정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68680"/>
            <a:ext cx="12188952" cy="45720"/>
          </a:xfrm>
          <a:prstGeom prst="rect">
            <a:avLst/>
          </a:prstGeom>
          <a:solidFill>
            <a:srgbClr val="3F5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E9E9E"/>
                </a:solidFill>
              </a:rPr>
              <a:t>21 / 23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51560"/>
            <a:ext cx="11247120" cy="1417320"/>
          </a:xfrm>
          <a:prstGeom prst="rect">
            <a:avLst/>
          </a:prstGeom>
          <a:noFill/>
          <a:ln w="1016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1051560"/>
            <a:ext cx="54864" cy="1417320"/>
          </a:xfrm>
          <a:prstGeom prst="rect">
            <a:avLst/>
          </a:prstGeom>
          <a:solidFill>
            <a:srgbClr val="3F5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200" y="1051560"/>
            <a:ext cx="11247120" cy="43891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8368" y="11430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F51B5"/>
                </a:solidFill>
              </a:rPr>
              <a:t>현재 한계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563624"/>
            <a:ext cx="1078992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12121"/>
                </a:solidFill>
              </a:rPr>
              <a:t>포지션 등록 시 진입가·현재가를 사용자가 직접 입력해야 함
수동 입력 → 오타·오류 가능성 / 실시간 시세 반영 불가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715768"/>
            <a:ext cx="11247120" cy="1417320"/>
          </a:xfrm>
          <a:prstGeom prst="rect">
            <a:avLst/>
          </a:prstGeom>
          <a:noFill/>
          <a:ln w="1016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57200" y="2715768"/>
            <a:ext cx="54864" cy="1417320"/>
          </a:xfrm>
          <a:prstGeom prst="rect">
            <a:avLst/>
          </a:prstGeom>
          <a:solidFill>
            <a:srgbClr val="3F5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57200" y="2715768"/>
            <a:ext cx="11247120" cy="43891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8368" y="280720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F51B5"/>
                </a:solidFill>
              </a:rPr>
              <a:t>도입 예정 기술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3227832"/>
            <a:ext cx="1078992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12121"/>
                </a:solidFill>
              </a:rPr>
              <a:t>Yahoo Finance API (무료) 또는 한국투자증권 Open API 연동
종목명 입력 시 현재가 자동 조회 → 포지션 등록 화면에 자동 채움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379976"/>
            <a:ext cx="11247120" cy="1417320"/>
          </a:xfrm>
          <a:prstGeom prst="rect">
            <a:avLst/>
          </a:prstGeom>
          <a:noFill/>
          <a:ln w="1016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57200" y="4379976"/>
            <a:ext cx="54864" cy="1417320"/>
          </a:xfrm>
          <a:prstGeom prst="rect">
            <a:avLst/>
          </a:prstGeom>
          <a:solidFill>
            <a:srgbClr val="3F5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57200" y="4379976"/>
            <a:ext cx="11247120" cy="43891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8368" y="4471416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F51B5"/>
                </a:solidFill>
              </a:rPr>
              <a:t>학습 계획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4892040"/>
            <a:ext cx="1078992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12121"/>
                </a:solidFill>
              </a:rPr>
              <a:t>Flutter에서 REST API 비동기 호출 (http 패키지 · async/await 심화)
API 키 보안 관리 (환경변수·flutter_dotenv) · JSON 파싱 처리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6080760"/>
            <a:ext cx="11247120" cy="502920"/>
          </a:xfrm>
          <a:prstGeom prst="rect">
            <a:avLst/>
          </a:prstGeom>
          <a:solidFill>
            <a:srgbClr val="E8EAF6"/>
          </a:solidFill>
          <a:ln w="1016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58368" y="61722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F51B5"/>
                </a:solidFill>
              </a:rPr>
              <a:t>"외부 API 연동과 보안 관리를 새로 학습해 적용할 예정입니다."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ortfolioTracker">
            <a:hlinkClick r:id="" action="ppaction://media"/>
            <a:extLst>
              <a:ext uri="{FF2B5EF4-FFF2-40B4-BE49-F238E27FC236}">
                <a16:creationId xmlns:a16="http://schemas.microsoft.com/office/drawing/2014/main" id="{0CAE50B3-397C-EE45-2FF0-AA1718AEEDF7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3718775" y="0"/>
            <a:ext cx="4751273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4663440"/>
            <a:ext cx="12188952" cy="45720"/>
          </a:xfrm>
          <a:prstGeom prst="rect">
            <a:avLst/>
          </a:prstGeom>
          <a:solidFill>
            <a:srgbClr val="3F5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4709160"/>
            <a:ext cx="12188952" cy="21488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3F51B5"/>
                </a:solidFill>
              </a:rPr>
              <a:t>감사합니다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74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9E9E9E"/>
                </a:solidFill>
              </a:rPr>
              <a:t>Portfolio Tracker  ·  2026.06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1797</Words>
  <Application>Microsoft Office PowerPoint</Application>
  <PresentationFormat>사용자 지정</PresentationFormat>
  <Paragraphs>233</Paragraphs>
  <Slides>23</Slides>
  <Notes>0</Notes>
  <HiddenSlides>0</HiddenSlides>
  <MMClips>1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볶음밥 김치</cp:lastModifiedBy>
  <cp:revision>4</cp:revision>
  <dcterms:created xsi:type="dcterms:W3CDTF">2013-01-27T09:14:16Z</dcterms:created>
  <dcterms:modified xsi:type="dcterms:W3CDTF">2026-06-15T15:19:38Z</dcterms:modified>
  <cp:category/>
</cp:coreProperties>
</file>